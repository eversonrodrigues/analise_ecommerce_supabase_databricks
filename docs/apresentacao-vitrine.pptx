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2011680" cy="889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7200" b="1">
                <a:solidFill>
                  <a:srgbClr val="C6F432"/>
                </a:solidFill>
                <a:latin typeface="Figtree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3400" b="0">
                <a:solidFill>
                  <a:srgbClr val="FFFFFF"/>
                </a:solidFill>
                <a:latin typeface="Figtree"/>
              </a:rPr>
              <a:t>Do dado cru à pergunta em português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500" b="0">
                <a:solidFill>
                  <a:srgbClr val="CDD3E0"/>
                </a:solidFill>
                <a:latin typeface="Figtree"/>
              </a:rPr>
              <a:t>Lakehouse bronze → silver → gold, três dashboards AI/BI e um agente do Genie que responde à diretoria sem ninguém escrever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8390AA"/>
                </a:solidFill>
                <a:latin typeface="Figtree"/>
              </a:rPr>
              <a:t>Databricks  ·  Lakeflow Declarative Pipelines  ·  Unity Catalog  ·  AI/BI  ·  Genie        período dos dados: 13/12/2025 a 11/01/2026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O 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Três diretorias, uma base, zero autonomia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2A3D63"/>
                </a:solidFill>
                <a:latin typeface="Figtree"/>
              </a:rPr>
              <a:t>Comercial, Customer Success e Pricing precisavam das mesmas tabelas para perguntas completamente diferentes — e dependiam de alguém escrever SQL para cada pergunta.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2A3D63"/>
                </a:solidFill>
                <a:latin typeface="Figtree"/>
              </a:rPr>
              <a:t>A base ainda trazia problemas conhecidos: venda de produto fora do catálogo, venda anterior ao cadastro do produto e cotação de concorrente pela metade do nosso preço.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500" b="1">
                <a:solidFill>
                  <a:srgbClr val="0F1B33"/>
                </a:solidFill>
                <a:latin typeface="Figtree"/>
              </a:rPr>
              <a:t>Apagar linha suja resolveria o relatório e destruiria a receita.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57400"/>
            <a:ext cx="2286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2258568"/>
            <a:ext cx="17739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3.020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vendas no período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2208" y="2057400"/>
            <a:ext cx="2286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258568"/>
            <a:ext cx="17739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R$ 974.077,28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receita a fechar em toda camada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657600"/>
            <a:ext cx="2286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858768"/>
            <a:ext cx="17739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400" b="1">
                <a:solidFill>
                  <a:srgbClr val="E0473C"/>
                </a:solidFill>
                <a:latin typeface="Figtree"/>
              </a:rPr>
              <a:t>80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linhas com problema conhecido, todas preservadas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22208" y="3657600"/>
            <a:ext cx="2286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858768"/>
            <a:ext cx="177393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400" b="1">
                <a:solidFill>
                  <a:srgbClr val="E0473C"/>
                </a:solidFill>
                <a:latin typeface="Figtree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pergunta respondida sem um analista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ANDAMENTO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Como o projeto foi construído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Silver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Limpa, deduplica e MARCA o problema.
Nunca descarta linha.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225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Gold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5 tabelas, uma por diretoria.
70 colunas com COMMENT.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1031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3225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Dashboards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3 painéis AI/BI como código,
no Vitrine Design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513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Genie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Um agente para as três
diretorias, em português.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319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1513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Placar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10/10 + 2/2, em 4 rodadas
de ajuste de contexto.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931920"/>
            <a:ext cx="324612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151376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A8D61A"/>
                </a:solidFill>
                <a:latin typeface="Figtree"/>
              </a:rPr>
              <a:t>06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900" b="1">
                <a:solidFill>
                  <a:srgbClr val="0F1B33"/>
                </a:solidFill>
                <a:latin typeface="Figtree"/>
              </a:rPr>
              <a:t>Blindagem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4 redes que impedem
a regressão silenciosa.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390AA"/>
                </a:solidFill>
                <a:latin typeface="Figtree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Figtree"/>
              </a:rPr>
              <a:t>Um pipeline. Quatro destinos.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2A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87168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CDD3E0"/>
                </a:solidFill>
                <a:latin typeface="Figtree"/>
              </a:rPr>
              <a:t>bronze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>
                <a:solidFill>
                  <a:srgbClr val="CDD3E0"/>
                </a:solidFill>
                <a:latin typeface="Figtree"/>
              </a:rPr>
              <a:t>vendas · produtos
clientes · concorrentes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8390AA"/>
                </a:solidFill>
                <a:latin typeface="Figtree"/>
              </a:rPr>
              <a:t>sobrescrita por outro processo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C6F432"/>
                </a:solidFill>
                <a:latin typeface="Figtre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28600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487168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Figtree"/>
              </a:rPr>
              <a:t>silver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Figtree"/>
              </a:rPr>
              <a:t>limpa, deduplica
e MARCA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8390AA"/>
                </a:solidFill>
                <a:latin typeface="Figtree"/>
              </a:rPr>
              <a:t>4 tabelas · @dp.expect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C6F432"/>
                </a:solidFill>
                <a:latin typeface="Figtre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487168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0F1B33"/>
                </a:solidFill>
                <a:latin typeface="Figtree"/>
              </a:rPr>
              <a:t>gold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>
                <a:solidFill>
                  <a:srgbClr val="0F1B33"/>
                </a:solidFill>
                <a:latin typeface="Figtree"/>
              </a:rPr>
              <a:t>uma tabela
por diretoria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8390AA"/>
                </a:solidFill>
                <a:latin typeface="Figtree"/>
              </a:rPr>
              <a:t>5 tabelas · 70 colunas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06324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C6F432"/>
                </a:solidFill>
                <a:latin typeface="Figtre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286000"/>
            <a:ext cx="2377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487168"/>
            <a:ext cx="187451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0F1B33"/>
                </a:solidFill>
                <a:latin typeface="Figtree"/>
              </a:rPr>
              <a:t>consumo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00" b="0">
                <a:solidFill>
                  <a:srgbClr val="0F1B33"/>
                </a:solidFill>
                <a:latin typeface="Figtree"/>
              </a:rPr>
              <a:t>3 dashboards
+ Genie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8390AA"/>
                </a:solidFill>
                <a:latin typeface="Figtree"/>
              </a:rPr>
              <a:t>Ask Genie nos três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CDD3E0"/>
                </a:solidFill>
                <a:latin typeface="Figtree"/>
              </a:rPr>
              <a:t>Tudo em um único Lakeflow Declarative Pipeline serverless. As dependências são implícitas: o pipeline monta o grafo pelo nome da tabela no código.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200" b="0">
                <a:solidFill>
                  <a:srgbClr val="8390AA"/>
                </a:solidFill>
                <a:latin typeface="Figtree"/>
              </a:rPr>
              <a:t>Materialized view em batch, nunca streaming — a bronze é sobrescrita fora do nosso controle, e streaming exige fonte append-only.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CAMADA 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Problema de qualidade se marca. Nunca se descarta.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>
                <a:solidFill>
                  <a:srgbClr val="2A3D63"/>
                </a:solidFill>
                <a:latin typeface="Figtree"/>
              </a:rPr>
              <a:t>Apagar uma venda suja é apagar receita. A silver marca o problema numa coluna booleana e o mede com @dp.expect — a linha continua contando no faturamento.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743200"/>
          <a:ext cx="10515600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16552"/>
                <a:gridCol w="3049524"/>
                <a:gridCol w="304952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problema conhecido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volume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como fica marcado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Venda de produto fora do catálogo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20 vendas · R$ 4.240,01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produto_cadastrado = false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Venda anterior ao cadastro do produto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5 vendas · R$ 325,88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venda_antes_do_cadastro = true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Cotação de concorrente suspeita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55 cotações · 15 produtos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possui_preco_suspeito = true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Nome de cliente com pronome de tratamento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11 clientes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corrigido, original preservado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0F1B33"/>
                </a:solidFill>
                <a:latin typeface="Figtree"/>
              </a:rPr>
              <a:t>@dp.expect conta as linhas saudáveis: a expectation afirma o estado bom, e a métrica de falha é exatamente a contagem do problema.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>
                <a:solidFill>
                  <a:srgbClr val="5B6B8C"/>
                </a:solidFill>
                <a:latin typeface="Figtree"/>
              </a:rPr>
              <a:t>Expectation vermelha esperada não é regressão — o BASELINE.md diz qual é o número certo de cada uma.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CAMADA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Escrita para uma IA 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50" b="0">
                <a:solidFill>
                  <a:srgbClr val="2A3D63"/>
                </a:solidFill>
                <a:latin typeface="Figtree"/>
              </a:rPr>
              <a:t>As 70 colunas carregam tipo e COMMENT com unidade, regra de cálculo e a armadilha que evita erro: o que significa zero, o que significa nulo, e o que a coluna NÃO é.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300" b="1">
                <a:solidFill>
                  <a:srgbClr val="0F1B33"/>
                </a:solidFill>
                <a:latin typeface="Figtree"/>
              </a:rPr>
              <a:t>Sem o tipo declarado, o Databricks descarta o comentário em silêncio.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450" b="1">
                <a:solidFill>
                  <a:srgbClr val="0F1B33"/>
                </a:solidFill>
                <a:latin typeface="Figtree"/>
              </a:rPr>
              <a:t>É esse texto que o Genie lê para escrever SQL.
Comentário vago = resposta adivinhada.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01168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240280"/>
            <a:ext cx="4114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C6F432"/>
                </a:solidFill>
                <a:latin typeface="Figtree"/>
              </a:rPr>
              <a:t>ticket_medio  DECIMAL(10,2)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Figtree"/>
              </a:rPr>
              <a:t>"Valor médio de UMA venda, em reais (R$).
Cálculo: receita total dividida pelo número de vendas — nunca média de médias.
NÃO é o preço unitário."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818888"/>
            <a:ext cx="287121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0F1B33"/>
                </a:solidFill>
                <a:latin typeface="Figtree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tabelas gold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61772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4818888"/>
            <a:ext cx="287121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0F1B33"/>
                </a:solidFill>
                <a:latin typeface="Figtree"/>
              </a:rPr>
              <a:t>70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colunas comentadas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617720"/>
            <a:ext cx="33832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818888"/>
            <a:ext cx="287121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0F1B33"/>
                </a:solidFill>
                <a:latin typeface="Figtree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150" b="0">
                <a:solidFill>
                  <a:srgbClr val="5B6B8C"/>
                </a:solidFill>
                <a:latin typeface="Figtree"/>
              </a:rPr>
              <a:t>colunas sem comentário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Três dashboards, três perguntas de diretoria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0F1B33"/>
                </a:solidFill>
                <a:latin typeface="Figtree"/>
              </a:rPr>
              <a:t>Comercial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5B6B8C"/>
                </a:solidFill>
                <a:latin typeface="Figtree"/>
              </a:rPr>
              <a:t>Quanto vendemos, quando,
em qual canal e com quais produtos?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000" b="1">
                <a:solidFill>
                  <a:srgbClr val="A8D61A"/>
                </a:solidFill>
                <a:latin typeface="Figtree"/>
              </a:rPr>
              <a:t>o que ele já entregou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1">
                <a:solidFill>
                  <a:srgbClr val="0F1B33"/>
                </a:solidFill>
                <a:latin typeface="Figtree"/>
              </a:rPr>
              <a:t>Quarta vende mais que sábado:
o período tem 5 sábados e só 4 quartas.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0F1B33"/>
                </a:solidFill>
                <a:latin typeface="Figtree"/>
              </a:rPr>
              <a:t>Customer Success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5B6B8C"/>
                </a:solidFill>
                <a:latin typeface="Figtree"/>
              </a:rPr>
              <a:t>Quem são os melhores clientes
e onde eles estão?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000" b="1">
                <a:solidFill>
                  <a:srgbClr val="A8D61A"/>
                </a:solidFill>
                <a:latin typeface="Figtree"/>
              </a:rPr>
              <a:t>o que ele já entregou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1">
                <a:solidFill>
                  <a:srgbClr val="0F1B33"/>
                </a:solidFill>
                <a:latin typeface="Figtree"/>
              </a:rPr>
              <a:t>O maior bloco não é o VIP:
TOP_TIER faz 50,6% da receita.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574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0F1B33"/>
                </a:solidFill>
                <a:latin typeface="Figtree"/>
              </a:rPr>
              <a:t>Pricing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0">
                <a:solidFill>
                  <a:srgbClr val="5B6B8C"/>
                </a:solidFill>
                <a:latin typeface="Figtree"/>
              </a:rPr>
              <a:t>Estamos mais caros que o mercado,
e em quais produtos agir?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000" b="1">
                <a:solidFill>
                  <a:srgbClr val="A8D61A"/>
                </a:solidFill>
                <a:latin typeface="Figtree"/>
              </a:rPr>
              <a:t>o que ele já entregou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1">
                <a:solidFill>
                  <a:srgbClr val="0F1B33"/>
                </a:solidFill>
                <a:latin typeface="Figtree"/>
              </a:rPr>
              <a:t>Sem problema sistêmico: o risco real
está em 20 produtos — 71,8% em um só.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2A3D63"/>
                </a:solidFill>
                <a:latin typeface="Figtree"/>
              </a:rPr>
              <a:t>Os três seguem o Vitrine Design System — e a identidade é cobrada por validador, não confiada à memória de quem edita.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390AA"/>
                </a:solidFill>
                <a:latin typeface="Figtree"/>
              </a:rPr>
              <a:t>IDENTIDADE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Figtree"/>
              </a:rPr>
              <a:t>A marca não é enfeite. É contrato.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 w="12700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Figtree"/>
              </a:rPr>
              <a:t>ink 900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2A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Figtree"/>
              </a:rPr>
              <a:t>ink 700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839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0F1B33"/>
                </a:solidFill>
                <a:latin typeface="Figtree"/>
              </a:rPr>
              <a:t>ink 400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0F1B33"/>
                </a:solidFill>
                <a:latin typeface="Figtree"/>
              </a:rPr>
              <a:t>lime 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F2A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0F1B33"/>
                </a:solidFill>
                <a:latin typeface="Figtree"/>
              </a:rPr>
              <a:t>âmbar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148840"/>
            <a:ext cx="1508760" cy="1051560"/>
          </a:xfrm>
          <a:prstGeom prst="roundRect">
            <a:avLst>
              <a:gd name="adj" fmla="val 6000"/>
            </a:avLst>
          </a:prstGeom>
          <a:solidFill>
            <a:srgbClr val="3B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2788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Figtree"/>
              </a:rPr>
              <a:t>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C6F432"/>
                </a:solidFill>
                <a:latin typeface="Figtree"/>
              </a:rPr>
              <a:t>Figtree em tudo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CDD3E0"/>
                </a:solidFill>
                <a:latin typeface="Figtree"/>
              </a:rPr>
              <a:t>a única fonte do DS, aplicada pelo tema do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5661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C6F432"/>
                </a:solidFill>
                <a:latin typeface="Figtree"/>
              </a:rPr>
              <a:t>Cantos de card em 20px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CDD3E0"/>
                </a:solidFill>
                <a:latin typeface="Figtree"/>
              </a:rPr>
              <a:t>o DS usa sombra, não traço: borda igual ao fundo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C6F432"/>
                </a:solidFill>
                <a:latin typeface="Figtree"/>
              </a:rPr>
              <a:t>Lime é acento, não enfeite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CDD3E0"/>
                </a:solidFill>
                <a:latin typeface="Figtree"/>
              </a:rPr>
              <a:t>seleção, filtro ativo e o segmento que o CS persegue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43484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C6F432"/>
                </a:solidFill>
                <a:latin typeface="Figtree"/>
              </a:rPr>
              <a:t>Copy em português de verdade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>
                <a:solidFill>
                  <a:srgbClr val="CDD3E0"/>
                </a:solidFill>
                <a:latin typeface="Figtree"/>
              </a:rPr>
              <a:t>com acento, sentence case, sem CAIXA ALTA, tratando por você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Figtree"/>
              </a:rPr>
              <a:t>O validador recusa cor fora dos tokens, tema divergente entre painéis e texto sem acento. Regressão de marca não passa despercebida.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011680" cy="889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949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6F432"/>
                </a:solidFill>
                <a:latin typeface="Figtree"/>
              </a:rPr>
              <a:t>A CEREJA DO BOLO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5800" b="1">
                <a:solidFill>
                  <a:srgbClr val="FFFFFF"/>
                </a:solidFill>
                <a:latin typeface="Figtree"/>
              </a:rPr>
              <a:t>O Genie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CDD3E0"/>
                </a:solidFill>
                <a:latin typeface="Figtree"/>
              </a:rPr>
              <a:t>Um único agente atende as três diretorias. Ele sabe apenas o que o projeto ensinou: as 5 tabelas gold, 2.481 caracteres de regra de negócio, 4 SQL de exemplo para as contas que a IA erra e 6 perguntas de partida.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800" b="1">
                <a:solidFill>
                  <a:srgbClr val="C6F432"/>
                </a:solidFill>
                <a:latin typeface="Figtree"/>
              </a:rPr>
              <a:t>A diretoria pergunta em português. Em 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79976"/>
            <a:ext cx="63500" cy="1651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igtree"/>
              </a:rPr>
              <a:t>Só a gold  </a:t>
            </a:r>
            <a:r>
              <a:rPr sz="1200">
                <a:solidFill>
                  <a:srgbClr val="8390AA"/>
                </a:solidFill>
                <a:latin typeface="Figtree"/>
              </a:rPr>
              <a:t>nenhuma tabela bronze ou silver entra no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18888"/>
            <a:ext cx="63500" cy="1651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igtree"/>
              </a:rPr>
              <a:t>Joins e sinônimos escritos à mão  </a:t>
            </a:r>
            <a:r>
              <a:rPr sz="1200">
                <a:solidFill>
                  <a:srgbClr val="8390AA"/>
                </a:solidFill>
                <a:latin typeface="Figtree"/>
              </a:rPr>
              <a:t>"faturamento" é receita, "UF" é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57800"/>
            <a:ext cx="63500" cy="1651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19379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igtree"/>
              </a:rPr>
              <a:t>SQL de exemplo onde a IA erra  </a:t>
            </a:r>
            <a:r>
              <a:rPr sz="1200">
                <a:solidFill>
                  <a:srgbClr val="8390AA"/>
                </a:solidFill>
                <a:latin typeface="Figtree"/>
              </a:rPr>
              <a:t>ticket médio, participação, contagem de preço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96712"/>
            <a:ext cx="63500" cy="1651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32704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Figtree"/>
              </a:rPr>
              <a:t>6 perguntas de partida  </a:t>
            </a:r>
            <a:r>
              <a:rPr sz="1200">
                <a:solidFill>
                  <a:srgbClr val="8390AA"/>
                </a:solidFill>
                <a:latin typeface="Figtree"/>
              </a:rPr>
              <a:t>todas testadas: nenhuma volta vazia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92024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C6F432"/>
                </a:solidFill>
                <a:latin typeface="Figtree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>
                <a:solidFill>
                  <a:srgbClr val="CDD3E0"/>
                </a:solidFill>
                <a:latin typeface="Figtree"/>
              </a:rPr>
              <a:t>tabelas gold,
nenhuma silver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20040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38328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C6F432"/>
                </a:solidFill>
                <a:latin typeface="Figtree"/>
              </a:rPr>
              <a:t>2.481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>
                <a:solidFill>
                  <a:srgbClr val="CDD3E0"/>
                </a:solidFill>
                <a:latin typeface="Figtree"/>
              </a:rPr>
              <a:t>caracteres de
instrução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663440"/>
            <a:ext cx="3017520" cy="123444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846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000" b="1">
                <a:solidFill>
                  <a:srgbClr val="C6F432"/>
                </a:solidFill>
                <a:latin typeface="Figtree"/>
              </a:rPr>
              <a:t>12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>
                <a:solidFill>
                  <a:srgbClr val="CDD3E0"/>
                </a:solidFill>
                <a:latin typeface="Figtree"/>
              </a:rPr>
              <a:t>perguntas no
teste de aceitação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PROVA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O placar: 10/10, em quatro rodadas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A3D63"/>
                </a:solidFill>
                <a:latin typeface="Figtree"/>
              </a:rPr>
              <a:t>Uma conversa nova por pergunta (conversa reaproveitada esconde regressão), resposta comparada com SQL rodado na gold na hora. Quando errou, mudou o contexto — nunca o esperado.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788920"/>
          <a:ext cx="10515600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1560"/>
                <a:gridCol w="1682496"/>
                <a:gridCol w="778154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rodada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placar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o que mudou entre elas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2/10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Era bug do TESTE: o gabarito devolve 974077.28 e o Genie responde R$ 974.077,28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2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8/10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Gabarito sem a coluna de total; e a regra de clientes era permissão, não obrigação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9/10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Regra virou imperativa no texto — e ainda assim falhou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4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10/10 + 2/2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A regra entrou no SQL de exemplo. Regra que falha em texto passa como exemplo.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0F1B33"/>
                </a:solidFill>
                <a:latin typeface="Figtree"/>
              </a:rPr>
              <a:t>A lição que mais ensinou: desconfie do teste antes do modelo.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5B6B8C"/>
                </a:solidFill>
                <a:latin typeface="Figtree"/>
              </a:rPr>
              <a:t>O 2/10 da primeira rodada era formatação de número no script de placar — o agente já acertava 8 das 10. Rodada 5 repetiu 10/10 sem nenhuma mudança, descartando sorte.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CONFIANÇA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O que o torna confiável é ele saber dizer não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63500" cy="1005840"/>
          </a:xfrm>
          <a:prstGeom prst="roundRect">
            <a:avLst/>
          </a:prstGeom>
          <a:solidFill>
            <a:srgbClr val="E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0F1B33"/>
                </a:solidFill>
                <a:latin typeface="Figtree"/>
              </a:rPr>
              <a:t>"Qual foi o nosso lucro?"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50" b="0">
                <a:solidFill>
                  <a:srgbClr val="2A3D63"/>
                </a:solidFill>
                <a:latin typeface="Figtree"/>
              </a:rPr>
              <a:t>"Não há dados de custo, margem, lucro, desconto ou imposto neste banco; só existe receita bruta. Não é possível calcular o lucro com as informações disponíveis."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63500" cy="1005840"/>
          </a:xfrm>
          <a:prstGeom prst="roundRect">
            <a:avLst/>
          </a:prstGeom>
          <a:solidFill>
            <a:srgbClr val="F2A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233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0F1B33"/>
                </a:solidFill>
                <a:latin typeface="Figtree"/>
              </a:rPr>
              <a:t>"Quanto vendemos ontem?"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250" b="0">
                <a:solidFill>
                  <a:srgbClr val="2A3D63"/>
                </a:solidFill>
                <a:latin typeface="Figtree"/>
              </a:rPr>
              <a:t>"Não é possível responder perguntas sobre 'ontem', pois os dados cobrem apenas o período de 13/12/2025 a 11/01/2026. O último dia com vendas é 11/01/2026; deseja ver esse dia?"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0F1B33"/>
                </a:solidFill>
                <a:latin typeface="Figtree"/>
              </a:rPr>
              <a:t>Na pergunta sobre "ontem" ele não gera SQL nenhum: explica o período e oferece o último dia disponível. Um agente que inventa número perde a diretoria na primeira resposta.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390AA"/>
                </a:solidFill>
                <a:latin typeface="Figtree"/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FFFFFF"/>
                </a:solidFill>
                <a:latin typeface="Figtree"/>
              </a:rPr>
              <a:t>O que essas respostas colocam sobre a mesa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4200" b="1">
                <a:solidFill>
                  <a:srgbClr val="0F1B33"/>
                </a:solidFill>
                <a:latin typeface="Figtree"/>
              </a:rPr>
              <a:t>R$ 654.436,22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50" b="0">
                <a:solidFill>
                  <a:srgbClr val="0F1B33"/>
                </a:solidFill>
                <a:latin typeface="Figtree"/>
              </a:rPr>
              <a:t>de receita colocada sob decisão explícita — 67,2% do faturamento do período, que antes dependia de alguém pensar na pergunta certa.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574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F2A516"/>
                </a:solidFill>
                <a:latin typeface="Figtree"/>
              </a:rPr>
              <a:t>R$ 161.375,09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>
                <a:solidFill>
                  <a:srgbClr val="CDD3E0"/>
                </a:solidFill>
                <a:latin typeface="Figtree"/>
              </a:rPr>
              <a:t>exposta à concorrência: produtos confirmadamente mais caros que TODOS os rivais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081528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C6F432"/>
                </a:solidFill>
                <a:latin typeface="Figtree"/>
              </a:rPr>
              <a:t>71,8% em 1 produto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>
                <a:solidFill>
                  <a:srgbClr val="CDD3E0"/>
                </a:solidFill>
                <a:latin typeface="Figtree"/>
              </a:rPr>
              <a:t>a Camisa Social sozinha responde por R$ 115.794,92 — um ajuste resolve três quartos do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105656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3B6FE0"/>
                </a:solidFill>
                <a:latin typeface="Figtree"/>
              </a:rPr>
              <a:t>R$ 493.061,13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>
                <a:solidFill>
                  <a:srgbClr val="CDD3E0"/>
                </a:solidFill>
                <a:latin typeface="Figtree"/>
              </a:rPr>
              <a:t>no bloco TOP_TIER (50,6%), invisível para uma estratégia focada só nos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129784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>
                <a:solidFill>
                  <a:srgbClr val="E0473C"/>
                </a:solidFill>
                <a:latin typeface="Figtree"/>
              </a:rPr>
              <a:t>15 produtos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50" b="0">
                <a:solidFill>
                  <a:srgbClr val="CDD3E0"/>
                </a:solidFill>
                <a:latin typeface="Figtree"/>
              </a:rPr>
              <a:t>"mais caros que todos" que eram bug de coleta: corte de preço errado evitado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>
                <a:solidFill>
                  <a:srgbClr val="CDD3E0"/>
                </a:solidFill>
                <a:latin typeface="Figtree"/>
              </a:rPr>
              <a:t>Nenhum desses números foi estimado: todos saem de consulta na gold, conferida contra o BASELINE. O que muda com o Genie é quem consegue chegar até eles — e em quanto tempo.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996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>
                <a:solidFill>
                  <a:srgbClr val="8390AA"/>
                </a:solidFill>
                <a:latin typeface="Figtree"/>
              </a:rPr>
              <a:t>Marca e dados são de estudo (Vitrine é fictícia). Período: 13/12/2025 a 11/01/2026.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5B6B8C"/>
                </a:solidFill>
                <a:latin typeface="Figtree"/>
              </a:rPr>
              <a:t>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96696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400" b="1">
                <a:solidFill>
                  <a:srgbClr val="0F1B33"/>
                </a:solidFill>
                <a:latin typeface="Figtree"/>
              </a:rPr>
              <a:t>Quatro redes contra a regressão silenciosa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56232"/>
            <a:ext cx="1371600" cy="635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48840"/>
          <a:ext cx="1051560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3432"/>
                <a:gridCol w="6099048"/>
                <a:gridCol w="210312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rede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o que pega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Figtree"/>
                        </a:rPr>
                        <a:t>quando</a:t>
                      </a:r>
                    </a:p>
                  </a:txBody>
                  <a:tcPr anchor="ctr" marL="109728" marR="109728">
                    <a:solidFill>
                      <a:srgbClr val="0F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@dp.expect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problema dentro de UMA tabela, durante a escrita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no pipeline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testes_qualidade.py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B33"/>
                          </a:solidFill>
                          <a:latin typeface="Figtree"/>
                        </a:rPr>
                        <a:t>18 testes cruzando tabelas, sobre o que já foi publicado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task 2 do job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valida_dashboards.py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o que o bundle validate NÃO valida: measure fantasma, grid sobreposto, tema fora do DS, copy sem acento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antes do deploy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valida_genie.py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schema do space, ordem exigida pelo servidor, teto de caracteres, pergunta que entrega a resposta do teste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A3D63"/>
                          </a:solidFill>
                          <a:latin typeface="Figtree"/>
                        </a:rPr>
                        <a:t>antes do deploy</a:t>
                      </a:r>
                    </a:p>
                  </a:txBody>
                  <a:tcPr anchor="ctr" marL="109728" marR="109728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75488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56048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C6F432"/>
                </a:solidFill>
                <a:latin typeface="Figtree"/>
              </a:rPr>
              <a:t>"Deploy passou" não é evidência de nada.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50" b="0">
                <a:solidFill>
                  <a:srgbClr val="FFFFFF"/>
                </a:solidFill>
                <a:latin typeface="Figtree"/>
              </a:rPr>
              <a:t>Um .lvdash.json com dataset errado deploya limpo e quebra só no navegador. Cada regra dentro dos validadores é a cicatriz de um erro que já aconteceu aqui.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B33"/>
                </a:solidFill>
                <a:latin typeface="Figtree"/>
              </a:rPr>
              <a:t>vitrine</a:t>
            </a:r>
            <a:r>
              <a:rPr sz="15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2011680" cy="88900"/>
          </a:xfrm>
          <a:prstGeom prst="round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692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400" b="1">
                <a:solidFill>
                  <a:srgbClr val="FFFFFF"/>
                </a:solidFill>
                <a:latin typeface="Figtree"/>
              </a:rPr>
              <a:t>Dado confiável, com marca e com voz.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700" b="0">
                <a:solidFill>
                  <a:srgbClr val="CDD3E0"/>
                </a:solidFill>
                <a:latin typeface="Figtree"/>
              </a:rPr>
              <a:t>A diretoria não abre uma tabela: ela faz uma pergunta. E recebe o número certo — ou um "esse dado não existe aqui", que vale igual.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6F432"/>
                </a:solidFill>
                <a:latin typeface="Figtree"/>
              </a:rPr>
              <a:t>10/10 + 2/2 no placar  ·  18 testes de dados  ·  70 colunas documentadas  ·  4 redes de proteção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Figtree"/>
              </a:rPr>
              <a:t>vitrine</a:t>
            </a:r>
            <a:r>
              <a:rPr sz="2000" b="1">
                <a:solidFill>
                  <a:srgbClr val="C6F432"/>
                </a:solidFill>
                <a:latin typeface="Figtree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